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63" r:id="rId2"/>
    <p:sldId id="290" r:id="rId3"/>
    <p:sldId id="315" r:id="rId4"/>
    <p:sldId id="316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EA098B-47CD-4AAC-B90E-E798EC11FDB1}" v="18" dt="2026-06-04T13:27:37.4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75DCB02-9BB8-47FD-8907-85C794F793BA}" styleName="Style à thème 1 - Accentuation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7292A2E-F333-43FB-9621-5CBBE7FDCDCB}" styleName="Style léger 2 - Accentuation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Style moyen 4 - Accentuation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6D9F66E-5EB9-4882-86FB-DCBF35E3C3E4}" styleName="Style moyen 4 - Accentuation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D083AE6-46FA-4A59-8FB0-9F97EB10719F}" styleName="Style léger 3 - Accentuation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Style léger 1 - Accentuation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2838BEF-8BB2-4498-84A7-C5851F593DF1}" styleName="Style moyen 4 - Accentuation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8FD4443E-F989-4FC4-A0C8-D5A2AF1F390B}" styleName="Style foncé 1 - Accentuation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269D01E-BC32-4049-B463-5C60D7B0CCD2}" styleName="Style à thème 2 - Accentuation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033" autoAdjust="0"/>
  </p:normalViewPr>
  <p:slideViewPr>
    <p:cSldViewPr snapToGrid="0">
      <p:cViewPr varScale="1">
        <p:scale>
          <a:sx n="111" d="100"/>
          <a:sy n="111" d="100"/>
        </p:scale>
        <p:origin x="59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RTY Omar" userId="c937abad-3e6c-4b92-901d-12e6bafb92ef" providerId="ADAL" clId="{35C0175B-9910-4092-8305-0CE203F539E3}"/>
    <pc:docChg chg="undo custSel addSld delSld modSld sldOrd">
      <pc:chgData name="CORTY Omar" userId="c937abad-3e6c-4b92-901d-12e6bafb92ef" providerId="ADAL" clId="{35C0175B-9910-4092-8305-0CE203F539E3}" dt="2026-06-05T07:57:44.011" v="10235" actId="20577"/>
      <pc:docMkLst>
        <pc:docMk/>
      </pc:docMkLst>
      <pc:sldChg chg="addSp modSp mod">
        <pc:chgData name="CORTY Omar" userId="c937abad-3e6c-4b92-901d-12e6bafb92ef" providerId="ADAL" clId="{35C0175B-9910-4092-8305-0CE203F539E3}" dt="2026-06-05T07:57:32.619" v="10229" actId="20577"/>
        <pc:sldMkLst>
          <pc:docMk/>
          <pc:sldMk cId="3791387675" sldId="263"/>
        </pc:sldMkLst>
        <pc:spChg chg="mod">
          <ac:chgData name="CORTY Omar" userId="c937abad-3e6c-4b92-901d-12e6bafb92ef" providerId="ADAL" clId="{35C0175B-9910-4092-8305-0CE203F539E3}" dt="2026-05-14T23:04:50.683" v="4489" actId="20577"/>
          <ac:spMkLst>
            <pc:docMk/>
            <pc:sldMk cId="3791387675" sldId="263"/>
            <ac:spMk id="5" creationId="{40BA3CDC-A035-88F0-6DF5-830139289770}"/>
          </ac:spMkLst>
        </pc:spChg>
        <pc:spChg chg="mod">
          <ac:chgData name="CORTY Omar" userId="c937abad-3e6c-4b92-901d-12e6bafb92ef" providerId="ADAL" clId="{35C0175B-9910-4092-8305-0CE203F539E3}" dt="2026-06-05T07:57:32.619" v="10229" actId="20577"/>
          <ac:spMkLst>
            <pc:docMk/>
            <pc:sldMk cId="3791387675" sldId="263"/>
            <ac:spMk id="9" creationId="{10E7200A-89C6-FECE-F992-14FF8B647F95}"/>
          </ac:spMkLst>
        </pc:spChg>
      </pc:sldChg>
      <pc:sldChg chg="addSp delSp modSp mod">
        <pc:chgData name="CORTY Omar" userId="c937abad-3e6c-4b92-901d-12e6bafb92ef" providerId="ADAL" clId="{35C0175B-9910-4092-8305-0CE203F539E3}" dt="2026-06-05T07:57:36.844" v="10231" actId="20577"/>
        <pc:sldMkLst>
          <pc:docMk/>
          <pc:sldMk cId="614284697" sldId="290"/>
        </pc:sldMkLst>
        <pc:spChg chg="add del mod">
          <ac:chgData name="CORTY Omar" userId="c937abad-3e6c-4b92-901d-12e6bafb92ef" providerId="ADAL" clId="{35C0175B-9910-4092-8305-0CE203F539E3}" dt="2026-06-04T12:39:53.715" v="9526" actId="478"/>
          <ac:spMkLst>
            <pc:docMk/>
            <pc:sldMk cId="614284697" sldId="290"/>
            <ac:spMk id="2" creationId="{DD4A3570-91BE-F99C-CF1C-00F1A0CD580E}"/>
          </ac:spMkLst>
        </pc:spChg>
        <pc:spChg chg="add del mod">
          <ac:chgData name="CORTY Omar" userId="c937abad-3e6c-4b92-901d-12e6bafb92ef" providerId="ADAL" clId="{35C0175B-9910-4092-8305-0CE203F539E3}" dt="2026-06-04T12:39:56.102" v="9527" actId="478"/>
          <ac:spMkLst>
            <pc:docMk/>
            <pc:sldMk cId="614284697" sldId="290"/>
            <ac:spMk id="5" creationId="{3F5B1719-994B-AAEB-7AD2-280E13480FB8}"/>
          </ac:spMkLst>
        </pc:spChg>
        <pc:spChg chg="mod">
          <ac:chgData name="CORTY Omar" userId="c937abad-3e6c-4b92-901d-12e6bafb92ef" providerId="ADAL" clId="{35C0175B-9910-4092-8305-0CE203F539E3}" dt="2026-06-05T07:57:36.844" v="10231" actId="20577"/>
          <ac:spMkLst>
            <pc:docMk/>
            <pc:sldMk cId="614284697" sldId="290"/>
            <ac:spMk id="8" creationId="{263EAF7E-7639-7763-447E-8667EB9D236E}"/>
          </ac:spMkLst>
        </pc:spChg>
        <pc:spChg chg="mod">
          <ac:chgData name="CORTY Omar" userId="c937abad-3e6c-4b92-901d-12e6bafb92ef" providerId="ADAL" clId="{35C0175B-9910-4092-8305-0CE203F539E3}" dt="2026-06-04T12:40:32.169" v="9555" actId="20577"/>
          <ac:spMkLst>
            <pc:docMk/>
            <pc:sldMk cId="614284697" sldId="290"/>
            <ac:spMk id="10" creationId="{31449A2C-4624-7A25-F443-3C0F4BA020E6}"/>
          </ac:spMkLst>
        </pc:spChg>
        <pc:spChg chg="add del mod">
          <ac:chgData name="CORTY Omar" userId="c937abad-3e6c-4b92-901d-12e6bafb92ef" providerId="ADAL" clId="{35C0175B-9910-4092-8305-0CE203F539E3}" dt="2026-06-04T12:55:47.656" v="9616" actId="47"/>
          <ac:spMkLst>
            <pc:docMk/>
            <pc:sldMk cId="614284697" sldId="290"/>
            <ac:spMk id="11" creationId="{464FDB9E-D921-9235-204A-60D6F8C3554B}"/>
          </ac:spMkLst>
        </pc:spChg>
        <pc:graphicFrameChg chg="add del mod modGraphic">
          <ac:chgData name="CORTY Omar" userId="c937abad-3e6c-4b92-901d-12e6bafb92ef" providerId="ADAL" clId="{35C0175B-9910-4092-8305-0CE203F539E3}" dt="2026-06-04T12:39:50.014" v="9524" actId="478"/>
          <ac:graphicFrameMkLst>
            <pc:docMk/>
            <pc:sldMk cId="614284697" sldId="290"/>
            <ac:graphicFrameMk id="3" creationId="{E96128E9-4D91-192E-C9DF-CB59BF6AB51F}"/>
          </ac:graphicFrameMkLst>
        </pc:graphicFrameChg>
        <pc:graphicFrameChg chg="add del mod modGraphic">
          <ac:chgData name="CORTY Omar" userId="c937abad-3e6c-4b92-901d-12e6bafb92ef" providerId="ADAL" clId="{35C0175B-9910-4092-8305-0CE203F539E3}" dt="2026-06-04T12:44:23.863" v="9559" actId="478"/>
          <ac:graphicFrameMkLst>
            <pc:docMk/>
            <pc:sldMk cId="614284697" sldId="290"/>
            <ac:graphicFrameMk id="6" creationId="{33B1D39E-1B1E-75B3-B1FB-EB855F0EFB72}"/>
          </ac:graphicFrameMkLst>
        </pc:graphicFrameChg>
        <pc:graphicFrameChg chg="add mod modGraphic">
          <ac:chgData name="CORTY Omar" userId="c937abad-3e6c-4b92-901d-12e6bafb92ef" providerId="ADAL" clId="{35C0175B-9910-4092-8305-0CE203F539E3}" dt="2026-06-04T12:57:12.278" v="9653" actId="207"/>
          <ac:graphicFrameMkLst>
            <pc:docMk/>
            <pc:sldMk cId="614284697" sldId="290"/>
            <ac:graphicFrameMk id="7" creationId="{77478B55-4035-AC74-E961-3E14D287D3C8}"/>
          </ac:graphicFrameMkLst>
        </pc:graphicFrameChg>
        <pc:graphicFrameChg chg="add del mod">
          <ac:chgData name="CORTY Omar" userId="c937abad-3e6c-4b92-901d-12e6bafb92ef" providerId="ADAL" clId="{35C0175B-9910-4092-8305-0CE203F539E3}" dt="2026-06-04T12:55:46.555" v="9613" actId="478"/>
          <ac:graphicFrameMkLst>
            <pc:docMk/>
            <pc:sldMk cId="614284697" sldId="290"/>
            <ac:graphicFrameMk id="12" creationId="{D94F7A53-A08E-B8F5-3411-24CF20F8EF73}"/>
          </ac:graphicFrameMkLst>
        </pc:graphicFrameChg>
        <pc:graphicFrameChg chg="add mod modGraphic">
          <ac:chgData name="CORTY Omar" userId="c937abad-3e6c-4b92-901d-12e6bafb92ef" providerId="ADAL" clId="{35C0175B-9910-4092-8305-0CE203F539E3}" dt="2026-06-04T13:01:36.269" v="9666" actId="1076"/>
          <ac:graphicFrameMkLst>
            <pc:docMk/>
            <pc:sldMk cId="614284697" sldId="290"/>
            <ac:graphicFrameMk id="13" creationId="{5F79B36B-2CD4-FEE1-EE93-BF5867208EE0}"/>
          </ac:graphicFrameMkLst>
        </pc:graphicFrameChg>
        <pc:picChg chg="add del mod">
          <ac:chgData name="CORTY Omar" userId="c937abad-3e6c-4b92-901d-12e6bafb92ef" providerId="ADAL" clId="{35C0175B-9910-4092-8305-0CE203F539E3}" dt="2026-06-04T12:39:51.323" v="9525" actId="478"/>
          <ac:picMkLst>
            <pc:docMk/>
            <pc:sldMk cId="614284697" sldId="290"/>
            <ac:picMk id="1027" creationId="{11DE5BA9-106F-9204-7DEF-349028887AE0}"/>
          </ac:picMkLst>
        </pc:picChg>
        <pc:cxnChg chg="add mod">
          <ac:chgData name="CORTY Omar" userId="c937abad-3e6c-4b92-901d-12e6bafb92ef" providerId="ADAL" clId="{35C0175B-9910-4092-8305-0CE203F539E3}" dt="2026-06-05T07:45:28.114" v="10100" actId="14100"/>
          <ac:cxnSpMkLst>
            <pc:docMk/>
            <pc:sldMk cId="614284697" sldId="290"/>
            <ac:cxnSpMk id="15" creationId="{779CB384-164D-D1E2-98FE-47E20DD154BA}"/>
          </ac:cxnSpMkLst>
        </pc:cxnChg>
      </pc:sldChg>
      <pc:sldChg chg="addSp delSp modSp add del mod ord">
        <pc:chgData name="CORTY Omar" userId="c937abad-3e6c-4b92-901d-12e6bafb92ef" providerId="ADAL" clId="{35C0175B-9910-4092-8305-0CE203F539E3}" dt="2026-06-04T13:01:12.475" v="9658" actId="47"/>
        <pc:sldMkLst>
          <pc:docMk/>
          <pc:sldMk cId="1536444881" sldId="307"/>
        </pc:sldMkLst>
      </pc:sldChg>
      <pc:sldChg chg="addSp delSp modSp add del mod">
        <pc:chgData name="CORTY Omar" userId="c937abad-3e6c-4b92-901d-12e6bafb92ef" providerId="ADAL" clId="{35C0175B-9910-4092-8305-0CE203F539E3}" dt="2026-06-04T13:01:13.174" v="9659" actId="47"/>
        <pc:sldMkLst>
          <pc:docMk/>
          <pc:sldMk cId="3060847588" sldId="312"/>
        </pc:sldMkLst>
      </pc:sldChg>
      <pc:sldChg chg="addSp delSp modSp add del mod">
        <pc:chgData name="CORTY Omar" userId="c937abad-3e6c-4b92-901d-12e6bafb92ef" providerId="ADAL" clId="{35C0175B-9910-4092-8305-0CE203F539E3}" dt="2026-06-04T13:01:13.592" v="9660" actId="47"/>
        <pc:sldMkLst>
          <pc:docMk/>
          <pc:sldMk cId="4031469819" sldId="313"/>
        </pc:sldMkLst>
      </pc:sldChg>
      <pc:sldChg chg="addSp delSp modSp add del mod">
        <pc:chgData name="CORTY Omar" userId="c937abad-3e6c-4b92-901d-12e6bafb92ef" providerId="ADAL" clId="{35C0175B-9910-4092-8305-0CE203F539E3}" dt="2026-06-04T13:01:22.251" v="9662" actId="47"/>
        <pc:sldMkLst>
          <pc:docMk/>
          <pc:sldMk cId="2929043589" sldId="314"/>
        </pc:sldMkLst>
        <pc:cxnChg chg="add del">
          <ac:chgData name="CORTY Omar" userId="c937abad-3e6c-4b92-901d-12e6bafb92ef" providerId="ADAL" clId="{35C0175B-9910-4092-8305-0CE203F539E3}" dt="2026-06-04T13:01:18.209" v="9661" actId="478"/>
          <ac:cxnSpMkLst>
            <pc:docMk/>
            <pc:sldMk cId="2929043589" sldId="314"/>
            <ac:cxnSpMk id="13" creationId="{A3BB6B65-FF9F-4D5A-BDFF-0AC4B0C0233C}"/>
          </ac:cxnSpMkLst>
        </pc:cxnChg>
      </pc:sldChg>
      <pc:sldChg chg="addSp delSp modSp add mod">
        <pc:chgData name="CORTY Omar" userId="c937abad-3e6c-4b92-901d-12e6bafb92ef" providerId="ADAL" clId="{35C0175B-9910-4092-8305-0CE203F539E3}" dt="2026-06-05T07:57:40.486" v="10233" actId="20577"/>
        <pc:sldMkLst>
          <pc:docMk/>
          <pc:sldMk cId="3326608616" sldId="315"/>
        </pc:sldMkLst>
        <pc:spChg chg="mod">
          <ac:chgData name="CORTY Omar" userId="c937abad-3e6c-4b92-901d-12e6bafb92ef" providerId="ADAL" clId="{35C0175B-9910-4092-8305-0CE203F539E3}" dt="2026-06-05T07:57:40.486" v="10233" actId="20577"/>
          <ac:spMkLst>
            <pc:docMk/>
            <pc:sldMk cId="3326608616" sldId="315"/>
            <ac:spMk id="8" creationId="{F417DD69-0C44-D6F0-A585-74989F462654}"/>
          </ac:spMkLst>
        </pc:spChg>
        <pc:spChg chg="mod">
          <ac:chgData name="CORTY Omar" userId="c937abad-3e6c-4b92-901d-12e6bafb92ef" providerId="ADAL" clId="{35C0175B-9910-4092-8305-0CE203F539E3}" dt="2026-06-04T13:31:26.652" v="10097" actId="20577"/>
          <ac:spMkLst>
            <pc:docMk/>
            <pc:sldMk cId="3326608616" sldId="315"/>
            <ac:spMk id="14" creationId="{3027A76A-FFDB-CEE5-FC42-E32DDDF619FB}"/>
          </ac:spMkLst>
        </pc:spChg>
        <pc:graphicFrameChg chg="add mod modGraphic">
          <ac:chgData name="CORTY Omar" userId="c937abad-3e6c-4b92-901d-12e6bafb92ef" providerId="ADAL" clId="{35C0175B-9910-4092-8305-0CE203F539E3}" dt="2026-06-05T07:52:07.317" v="10197" actId="20577"/>
          <ac:graphicFrameMkLst>
            <pc:docMk/>
            <pc:sldMk cId="3326608616" sldId="315"/>
            <ac:graphicFrameMk id="2" creationId="{DC319DDF-75ED-BA74-CAD5-B184075BCCB9}"/>
          </ac:graphicFrameMkLst>
        </pc:graphicFrameChg>
        <pc:graphicFrameChg chg="add mod modGraphic">
          <ac:chgData name="CORTY Omar" userId="c937abad-3e6c-4b92-901d-12e6bafb92ef" providerId="ADAL" clId="{35C0175B-9910-4092-8305-0CE203F539E3}" dt="2026-06-05T07:53:01.478" v="10204" actId="20577"/>
          <ac:graphicFrameMkLst>
            <pc:docMk/>
            <pc:sldMk cId="3326608616" sldId="315"/>
            <ac:graphicFrameMk id="3" creationId="{E3EAEF4B-6089-F198-7D72-3AE8139D911A}"/>
          </ac:graphicFrameMkLst>
        </pc:graphicFrameChg>
        <pc:graphicFrameChg chg="add mod modGraphic">
          <ac:chgData name="CORTY Omar" userId="c937abad-3e6c-4b92-901d-12e6bafb92ef" providerId="ADAL" clId="{35C0175B-9910-4092-8305-0CE203F539E3}" dt="2026-06-04T13:18:33.704" v="9768" actId="207"/>
          <ac:graphicFrameMkLst>
            <pc:docMk/>
            <pc:sldMk cId="3326608616" sldId="315"/>
            <ac:graphicFrameMk id="4" creationId="{DA9CC82A-A7D5-9190-EB60-D3F35A56D9F7}"/>
          </ac:graphicFrameMkLst>
        </pc:graphicFrameChg>
        <pc:graphicFrameChg chg="del">
          <ac:chgData name="CORTY Omar" userId="c937abad-3e6c-4b92-901d-12e6bafb92ef" providerId="ADAL" clId="{35C0175B-9910-4092-8305-0CE203F539E3}" dt="2026-06-04T12:58:29.389" v="9656" actId="478"/>
          <ac:graphicFrameMkLst>
            <pc:docMk/>
            <pc:sldMk cId="3326608616" sldId="315"/>
            <ac:graphicFrameMk id="7" creationId="{5CEA4A80-FDC0-A36F-7368-6B17675E1854}"/>
          </ac:graphicFrameMkLst>
        </pc:graphicFrameChg>
        <pc:graphicFrameChg chg="del">
          <ac:chgData name="CORTY Omar" userId="c937abad-3e6c-4b92-901d-12e6bafb92ef" providerId="ADAL" clId="{35C0175B-9910-4092-8305-0CE203F539E3}" dt="2026-06-04T12:58:34.242" v="9657" actId="478"/>
          <ac:graphicFrameMkLst>
            <pc:docMk/>
            <pc:sldMk cId="3326608616" sldId="315"/>
            <ac:graphicFrameMk id="13" creationId="{B004FD18-FB3D-5BC8-561F-EC722705E440}"/>
          </ac:graphicFrameMkLst>
        </pc:graphicFrameChg>
        <pc:cxnChg chg="add mod">
          <ac:chgData name="CORTY Omar" userId="c937abad-3e6c-4b92-901d-12e6bafb92ef" providerId="ADAL" clId="{35C0175B-9910-4092-8305-0CE203F539E3}" dt="2026-06-04T13:18:37.994" v="9769" actId="14100"/>
          <ac:cxnSpMkLst>
            <pc:docMk/>
            <pc:sldMk cId="3326608616" sldId="315"/>
            <ac:cxnSpMk id="5" creationId="{115C6870-8729-79A6-0FF4-5071D2478E45}"/>
          </ac:cxnSpMkLst>
        </pc:cxnChg>
      </pc:sldChg>
      <pc:sldChg chg="addSp delSp modSp add mod">
        <pc:chgData name="CORTY Omar" userId="c937abad-3e6c-4b92-901d-12e6bafb92ef" providerId="ADAL" clId="{35C0175B-9910-4092-8305-0CE203F539E3}" dt="2026-06-05T07:57:44.011" v="10235" actId="20577"/>
        <pc:sldMkLst>
          <pc:docMk/>
          <pc:sldMk cId="1989391716" sldId="316"/>
        </pc:sldMkLst>
        <pc:spChg chg="mod">
          <ac:chgData name="CORTY Omar" userId="c937abad-3e6c-4b92-901d-12e6bafb92ef" providerId="ADAL" clId="{35C0175B-9910-4092-8305-0CE203F539E3}" dt="2026-06-05T07:57:44.011" v="10235" actId="20577"/>
          <ac:spMkLst>
            <pc:docMk/>
            <pc:sldMk cId="1989391716" sldId="316"/>
            <ac:spMk id="8" creationId="{9ED44E92-A1E8-5C83-F1C2-BCAB68D48D27}"/>
          </ac:spMkLst>
        </pc:spChg>
        <pc:spChg chg="mod">
          <ac:chgData name="CORTY Omar" userId="c937abad-3e6c-4b92-901d-12e6bafb92ef" providerId="ADAL" clId="{35C0175B-9910-4092-8305-0CE203F539E3}" dt="2026-06-04T13:31:32.135" v="10099" actId="20577"/>
          <ac:spMkLst>
            <pc:docMk/>
            <pc:sldMk cId="1989391716" sldId="316"/>
            <ac:spMk id="14" creationId="{65E3E9DB-2AE2-8D06-A996-7DE66AF2CC73}"/>
          </ac:spMkLst>
        </pc:spChg>
        <pc:graphicFrameChg chg="del">
          <ac:chgData name="CORTY Omar" userId="c937abad-3e6c-4b92-901d-12e6bafb92ef" providerId="ADAL" clId="{35C0175B-9910-4092-8305-0CE203F539E3}" dt="2026-06-04T13:23:36.577" v="9847" actId="478"/>
          <ac:graphicFrameMkLst>
            <pc:docMk/>
            <pc:sldMk cId="1989391716" sldId="316"/>
            <ac:graphicFrameMk id="2" creationId="{27902207-B764-B1DC-C7BC-4F6EE4839019}"/>
          </ac:graphicFrameMkLst>
        </pc:graphicFrameChg>
        <pc:graphicFrameChg chg="del">
          <ac:chgData name="CORTY Omar" userId="c937abad-3e6c-4b92-901d-12e6bafb92ef" providerId="ADAL" clId="{35C0175B-9910-4092-8305-0CE203F539E3}" dt="2026-06-04T13:23:38.574" v="9848" actId="478"/>
          <ac:graphicFrameMkLst>
            <pc:docMk/>
            <pc:sldMk cId="1989391716" sldId="316"/>
            <ac:graphicFrameMk id="3" creationId="{D943DDE3-642A-A4D3-29C0-155B472C45D1}"/>
          </ac:graphicFrameMkLst>
        </pc:graphicFrameChg>
        <pc:graphicFrameChg chg="del">
          <ac:chgData name="CORTY Omar" userId="c937abad-3e6c-4b92-901d-12e6bafb92ef" providerId="ADAL" clId="{35C0175B-9910-4092-8305-0CE203F539E3}" dt="2026-06-04T13:19:33.240" v="9783" actId="478"/>
          <ac:graphicFrameMkLst>
            <pc:docMk/>
            <pc:sldMk cId="1989391716" sldId="316"/>
            <ac:graphicFrameMk id="4" creationId="{06332B25-00C7-08B9-1884-F92F96E2B3F6}"/>
          </ac:graphicFrameMkLst>
        </pc:graphicFrameChg>
        <pc:graphicFrameChg chg="add del mod">
          <ac:chgData name="CORTY Omar" userId="c937abad-3e6c-4b92-901d-12e6bafb92ef" providerId="ADAL" clId="{35C0175B-9910-4092-8305-0CE203F539E3}" dt="2026-06-04T13:19:37.600" v="9785" actId="478"/>
          <ac:graphicFrameMkLst>
            <pc:docMk/>
            <pc:sldMk cId="1989391716" sldId="316"/>
            <ac:graphicFrameMk id="6" creationId="{62B8472E-5D03-AA1A-E726-F6B3068D3245}"/>
          </ac:graphicFrameMkLst>
        </pc:graphicFrameChg>
        <pc:graphicFrameChg chg="add mod modGraphic">
          <ac:chgData name="CORTY Omar" userId="c937abad-3e6c-4b92-901d-12e6bafb92ef" providerId="ADAL" clId="{35C0175B-9910-4092-8305-0CE203F539E3}" dt="2026-06-05T07:53:45.052" v="10207" actId="20577"/>
          <ac:graphicFrameMkLst>
            <pc:docMk/>
            <pc:sldMk cId="1989391716" sldId="316"/>
            <ac:graphicFrameMk id="7" creationId="{66750146-8666-03B9-3CB7-A28C3C9310B9}"/>
          </ac:graphicFrameMkLst>
        </pc:graphicFrameChg>
        <pc:graphicFrameChg chg="add mod modGraphic">
          <ac:chgData name="CORTY Omar" userId="c937abad-3e6c-4b92-901d-12e6bafb92ef" providerId="ADAL" clId="{35C0175B-9910-4092-8305-0CE203F539E3}" dt="2026-06-04T13:23:50.315" v="9850" actId="1076"/>
          <ac:graphicFrameMkLst>
            <pc:docMk/>
            <pc:sldMk cId="1989391716" sldId="316"/>
            <ac:graphicFrameMk id="12" creationId="{6D38A5C1-2CF1-58BF-D4F5-ED20C31E459A}"/>
          </ac:graphicFrameMkLst>
        </pc:graphicFrameChg>
        <pc:graphicFrameChg chg="add mod modGraphic">
          <ac:chgData name="CORTY Omar" userId="c937abad-3e6c-4b92-901d-12e6bafb92ef" providerId="ADAL" clId="{35C0175B-9910-4092-8305-0CE203F539E3}" dt="2026-06-05T07:54:36.340" v="10227" actId="20577"/>
          <ac:graphicFrameMkLst>
            <pc:docMk/>
            <pc:sldMk cId="1989391716" sldId="316"/>
            <ac:graphicFrameMk id="13" creationId="{8F478787-DC03-2A06-186C-471AECC2CF7C}"/>
          </ac:graphicFrameMkLst>
        </pc:graphicFrameChg>
        <pc:graphicFrameChg chg="add mod modGraphic">
          <ac:chgData name="CORTY Omar" userId="c937abad-3e6c-4b92-901d-12e6bafb92ef" providerId="ADAL" clId="{35C0175B-9910-4092-8305-0CE203F539E3}" dt="2026-06-04T13:31:20.041" v="10095" actId="1076"/>
          <ac:graphicFrameMkLst>
            <pc:docMk/>
            <pc:sldMk cId="1989391716" sldId="316"/>
            <ac:graphicFrameMk id="15" creationId="{99C29E6B-B1C4-B149-F807-04A842482497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3A6FCE-B2C3-42FF-8DAE-8894F377301F}" type="datetimeFigureOut">
              <a:rPr lang="fr-FR" smtClean="0"/>
              <a:t>05/06/2026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563BAD-3805-4B53-8F3B-5AFB5556793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2894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63BAD-3805-4B53-8F3B-5AFB5556793B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66993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C3F2C-130F-B6CE-95F3-E122F5D3F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B3FF3DC-A828-347D-AA2A-1B39DEF334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04EE985-88D5-11F8-FCD9-39D52EA7D8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AF8561C-5905-A2C1-38A1-433F334D0B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63BAD-3805-4B53-8F3B-5AFB5556793B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3549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663CA-AC91-EAD8-F2FA-C810587FA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4533C19-A817-42C4-7DB9-172D1F048D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BA901B8-A352-6FFA-0ACA-5AED89A5CF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F12708F-B2F5-421C-2F7F-532E2D293A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63BAD-3805-4B53-8F3B-5AFB5556793B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96795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19B12-CA27-CFD0-6011-DCB415689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6DC611F-D2BE-14DF-9C24-87AF757448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CBA234F-E6E7-AF17-8AFD-48D714F978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95DB4BD-9FD5-4BB1-973B-06AD0F6160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63BAD-3805-4B53-8F3B-5AFB5556793B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21318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FF6604-04F2-DA4D-9C77-6997402480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A005609-4B90-F53A-9716-B4B181125B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6014F00-0939-FD1E-EAE4-F921C7EC8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F7D36-4C96-4C61-8D7E-42196948DD22}" type="datetimeFigureOut">
              <a:rPr lang="fr-FR" smtClean="0"/>
              <a:t>05/06/2026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629F044-3921-CD57-7190-B36B08CF5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FDD80AD-F4B5-BC60-CF53-7DE503C0A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9D3AF-C160-4ADD-BB60-E089558B78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6615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07741E-549F-21B0-A8F1-0D75F6AC3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6531BFC-096D-222F-16D8-CAD74BE09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8554D4F-9539-5ACF-70B8-483908795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F7D36-4C96-4C61-8D7E-42196948DD22}" type="datetimeFigureOut">
              <a:rPr lang="fr-FR" smtClean="0"/>
              <a:t>05/06/2026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26FE174-FC74-51BB-088C-76EFD4856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B1CF15B-FCFF-3B5D-28E5-6985000A0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9D3AF-C160-4ADD-BB60-E089558B78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5693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E24119-97AC-F591-F4A1-A42884DA4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AE7AF4C-6C7D-6F33-F246-7E5D00DDB7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71E8DA6-316E-1EB8-4CC0-F976CA740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F7D36-4C96-4C61-8D7E-42196948DD22}" type="datetimeFigureOut">
              <a:rPr lang="fr-FR" smtClean="0"/>
              <a:t>05/06/2026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73BE720-E4CC-BE1F-AB7E-3B5AF12A9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F4B53A1-7130-CE24-22EF-394C73363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9D3AF-C160-4ADD-BB60-E089558B78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4981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A4F4A1-29A7-90D5-F8CA-6C2EDDB7C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8F615D1-7221-3D1A-44A4-6C56F124BA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1F3A053-2DE4-4508-90B1-B1A6CEA59E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38C3D89-EE84-F910-2F81-A4A77C6E9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F7D36-4C96-4C61-8D7E-42196948DD22}" type="datetimeFigureOut">
              <a:rPr lang="fr-FR" smtClean="0"/>
              <a:t>05/06/2026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F4D47E2-AF09-D0D6-35A7-512A0961D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D3B1133-052D-92BE-2F47-4BB9243F4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9D3AF-C160-4ADD-BB60-E089558B78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738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CC1740-0531-8906-5B1A-00AF98601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8AE1771-7A0B-E891-02FA-907D55A651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1DD8F25-B568-1AA0-B5E8-AD6E7EBA09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1B233EC-77B4-933B-210A-D8E801DE55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0F4ACE1-B6E0-9464-30FF-757CFD78D1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B223090C-4DB9-44A0-2EEA-98F110442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F7D36-4C96-4C61-8D7E-42196948DD22}" type="datetimeFigureOut">
              <a:rPr lang="fr-FR" smtClean="0"/>
              <a:t>05/06/2026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F18FFA5-2B97-E9FE-7055-C0DB6291B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A2729CA-0802-C435-1778-E0B50E093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9D3AF-C160-4ADD-BB60-E089558B78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8791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0250B7-E855-7DA9-9BCA-57BE489AA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BC7A1B5-03EE-847D-6FF8-0836AC200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F7D36-4C96-4C61-8D7E-42196948DD22}" type="datetimeFigureOut">
              <a:rPr lang="fr-FR" smtClean="0"/>
              <a:t>05/06/2026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7019FCB-E89C-9A4C-1D19-953E547A6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F827F05-FACE-034C-8D92-F62A4582E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9D3AF-C160-4ADD-BB60-E089558B78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8255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76590E9-AAF0-E9F3-D702-FBD63E258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F7D36-4C96-4C61-8D7E-42196948DD22}" type="datetimeFigureOut">
              <a:rPr lang="fr-FR" smtClean="0"/>
              <a:t>05/06/2026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DEE2A04-D288-A463-DBEA-B9387F227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9CE8EBE-9103-8589-804D-6EB4AE09D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9D3AF-C160-4ADD-BB60-E089558B78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8409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5C9746-61F1-179B-3D74-E1B33257F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E7EC671-96A3-78D3-4FB8-69924317A5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E308428-45A2-6A0D-5F26-A516EA18F3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5B5F96E-414E-C335-AC90-D3ED71D70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F7D36-4C96-4C61-8D7E-42196948DD22}" type="datetimeFigureOut">
              <a:rPr lang="fr-FR" smtClean="0"/>
              <a:t>05/06/2026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53DD0FB-F8B6-0AC1-B069-FAF33BC84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3F8CC6F-4A58-1698-136A-CD7406116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9D3AF-C160-4ADD-BB60-E089558B78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9770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D09ED4-335D-FE00-2665-62A006437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1BA7AA4-6F4D-8376-B71B-98AD747C83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615DAFE-DA99-2C94-862B-B1EC55185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E9EB7E2-8B18-BCB4-967E-7061A93F5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F7D36-4C96-4C61-8D7E-42196948DD22}" type="datetimeFigureOut">
              <a:rPr lang="fr-FR" smtClean="0"/>
              <a:t>05/06/2026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53BC0CC-1703-2C3C-19B0-51A0D3CF8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A46FAE8-4499-67A2-585E-1066A4BE7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9D3AF-C160-4ADD-BB60-E089558B78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2147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C73105-03A5-B6F9-B333-39CA6DF89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85D71BE-3138-1DC1-7B86-BAEC9EE1F4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494EB68-868A-8C31-2FDE-3D74382C6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F7D36-4C96-4C61-8D7E-42196948DD22}" type="datetimeFigureOut">
              <a:rPr lang="fr-FR" smtClean="0"/>
              <a:t>05/06/2026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D9E3915-A79A-E3C4-64F8-7E2326380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D2009FF-C288-475A-BF52-CBD5E223F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9D3AF-C160-4ADD-BB60-E089558B78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3685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0B678EF-8C8C-46CA-30C1-D78D9DBA65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06781C0-49E2-6418-26C6-7D9E9CA341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07DFCA8-57BD-B198-0219-A890155CB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F7D36-4C96-4C61-8D7E-42196948DD22}" type="datetimeFigureOut">
              <a:rPr lang="fr-FR" smtClean="0"/>
              <a:t>05/06/2026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9230E17-47AA-BB03-9D52-7B382BCEB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FC894E-4E9F-CC46-AE4D-ED049EFA1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9D3AF-C160-4ADD-BB60-E089558B78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8857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9E6846F-E703-3B6F-E617-0C1BB3877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471E76A-CB28-2362-0B60-03AC88D111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9344C16-E333-3037-F84B-81D4169DEF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6F7D36-4C96-4C61-8D7E-42196948DD22}" type="datetimeFigureOut">
              <a:rPr lang="fr-FR" smtClean="0"/>
              <a:t>05/06/2026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734B41C-CB72-3382-072C-B8D857B213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4C58315-4007-66A5-E570-D7B939E39E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59D3AF-C160-4ADD-BB60-E089558B7851}" type="slidenum">
              <a:rPr lang="fr-FR" smtClean="0"/>
              <a:t>‹N°›</a:t>
            </a:fld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E49AD46-AE35-78B6-ABD8-784DFB6A55A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34750" y="6642100"/>
            <a:ext cx="8286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10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 C</a:t>
            </a:r>
          </a:p>
        </p:txBody>
      </p:sp>
    </p:spTree>
    <p:extLst>
      <p:ext uri="{BB962C8B-B14F-4D97-AF65-F5344CB8AC3E}">
        <p14:creationId xmlns:p14="http://schemas.microsoft.com/office/powerpoint/2010/main" val="2062170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1ACA2EA0-FFD3-42EC-9406-B595015ED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D5288BCE-665C-472A-8C43-664BCFA31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8762" y="1247775"/>
            <a:ext cx="9144000" cy="3007447"/>
          </a:xfrm>
          <a:prstGeom prst="rect">
            <a:avLst/>
          </a:prstGeom>
          <a:solidFill>
            <a:schemeClr val="bg1"/>
          </a:solidFill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0BA3CDC-A035-88F0-6DF5-830139289770}"/>
              </a:ext>
            </a:extLst>
          </p:cNvPr>
          <p:cNvSpPr txBox="1"/>
          <p:nvPr/>
        </p:nvSpPr>
        <p:spPr>
          <a:xfrm>
            <a:off x="1804988" y="1442172"/>
            <a:ext cx="8582025" cy="21773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fr-FR" sz="6600" b="1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Analyse exploratoire des données AED</a:t>
            </a:r>
          </a:p>
        </p:txBody>
      </p:sp>
      <p:sp>
        <p:nvSpPr>
          <p:cNvPr id="30" name="Rectangle: Rounded Corners 14">
            <a:extLst>
              <a:ext uri="{FF2B5EF4-FFF2-40B4-BE49-F238E27FC236}">
                <a16:creationId xmlns:a16="http://schemas.microsoft.com/office/drawing/2014/main" id="{46C57131-53A7-4C1A-BEA8-25F06A06A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7872" y="3912322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pic>
        <p:nvPicPr>
          <p:cNvPr id="4" name="Image 3" descr="Une image contenant Graphique, Police, Bleu électrique, graphisme&#10;&#10;Le contenu généré par l’IA peut être incorrect.">
            <a:extLst>
              <a:ext uri="{FF2B5EF4-FFF2-40B4-BE49-F238E27FC236}">
                <a16:creationId xmlns:a16="http://schemas.microsoft.com/office/drawing/2014/main" id="{B983C26E-1BE5-C9F6-D39B-881DA87B9B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635" y="123382"/>
            <a:ext cx="929721" cy="693480"/>
          </a:xfrm>
          <a:prstGeom prst="rect">
            <a:avLst/>
          </a:prstGeom>
        </p:spPr>
      </p:pic>
      <p:pic>
        <p:nvPicPr>
          <p:cNvPr id="6" name="Picture 2" descr="Logo de DataClass AI">
            <a:extLst>
              <a:ext uri="{FF2B5EF4-FFF2-40B4-BE49-F238E27FC236}">
                <a16:creationId xmlns:a16="http://schemas.microsoft.com/office/drawing/2014/main" id="{3DFA10CE-7FF4-7756-2E02-41B49A9EB0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644" y="45183"/>
            <a:ext cx="952500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9BC14493-C680-98FE-122F-78A86741E2B3}"/>
              </a:ext>
            </a:extLst>
          </p:cNvPr>
          <p:cNvSpPr txBox="1"/>
          <p:nvPr/>
        </p:nvSpPr>
        <p:spPr>
          <a:xfrm>
            <a:off x="124644" y="561022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noProof="0" dirty="0"/>
              <a:t>Auteur : Omar CORTY</a:t>
            </a:r>
            <a:br>
              <a:rPr lang="fr-FR" b="1" noProof="0" dirty="0"/>
            </a:br>
            <a:r>
              <a:rPr lang="fr-FR" b="1" noProof="0" dirty="0"/>
              <a:t>Spécialisation : Manager Gouvernance de données &amp; IA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10E7200A-89C6-FECE-F992-14FF8B647F95}"/>
              </a:ext>
            </a:extLst>
          </p:cNvPr>
          <p:cNvSpPr txBox="1"/>
          <p:nvPr/>
        </p:nvSpPr>
        <p:spPr>
          <a:xfrm>
            <a:off x="40645" y="6443485"/>
            <a:ext cx="1329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noProof="0" dirty="0"/>
              <a:t>05/06/2026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0C02679-5DA2-5B2A-EC07-F538EED6C5D2}"/>
              </a:ext>
            </a:extLst>
          </p:cNvPr>
          <p:cNvSpPr txBox="1"/>
          <p:nvPr/>
        </p:nvSpPr>
        <p:spPr>
          <a:xfrm>
            <a:off x="5556039" y="647545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noProof="0" dirty="0"/>
              <a:t>1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0379C654-C8B9-98E2-FB92-A0A9DB855591}"/>
              </a:ext>
            </a:extLst>
          </p:cNvPr>
          <p:cNvSpPr txBox="1"/>
          <p:nvPr/>
        </p:nvSpPr>
        <p:spPr>
          <a:xfrm>
            <a:off x="8115707" y="5225998"/>
            <a:ext cx="51141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Master Gouvernance IM</a:t>
            </a:r>
            <a:endParaRPr lang="fr-FR" b="1" noProof="0" dirty="0"/>
          </a:p>
        </p:txBody>
      </p:sp>
    </p:spTree>
    <p:extLst>
      <p:ext uri="{BB962C8B-B14F-4D97-AF65-F5344CB8AC3E}">
        <p14:creationId xmlns:p14="http://schemas.microsoft.com/office/powerpoint/2010/main" val="379138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39C64-E0C2-4568-8ACA-FF809178A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01947235-9972-1CC5-F7D4-B220D26311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635" y="123382"/>
            <a:ext cx="929721" cy="693480"/>
          </a:xfrm>
          <a:prstGeom prst="rect">
            <a:avLst/>
          </a:prstGeom>
        </p:spPr>
      </p:pic>
      <p:pic>
        <p:nvPicPr>
          <p:cNvPr id="2050" name="Picture 2" descr="Logo de DataClass AI">
            <a:extLst>
              <a:ext uri="{FF2B5EF4-FFF2-40B4-BE49-F238E27FC236}">
                <a16:creationId xmlns:a16="http://schemas.microsoft.com/office/drawing/2014/main" id="{4F170FA4-D9B3-4DEE-9811-F4CF41475A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644" y="45183"/>
            <a:ext cx="952500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9E95028B-0CF6-5F1C-0171-2DBB1059F128}"/>
              </a:ext>
            </a:extLst>
          </p:cNvPr>
          <p:cNvSpPr txBox="1"/>
          <p:nvPr/>
        </p:nvSpPr>
        <p:spPr>
          <a:xfrm>
            <a:off x="5556039" y="6475452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2</a:t>
            </a:r>
            <a:endParaRPr lang="fr-FR" sz="1200" noProof="0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63EAF7E-7639-7763-447E-8667EB9D236E}"/>
              </a:ext>
            </a:extLst>
          </p:cNvPr>
          <p:cNvSpPr txBox="1"/>
          <p:nvPr/>
        </p:nvSpPr>
        <p:spPr>
          <a:xfrm>
            <a:off x="0" y="6581001"/>
            <a:ext cx="9444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noProof="0" dirty="0"/>
              <a:t>05/06/2026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1449A2C-4624-7A25-F443-3C0F4BA020E6}"/>
              </a:ext>
            </a:extLst>
          </p:cNvPr>
          <p:cNvSpPr txBox="1"/>
          <p:nvPr/>
        </p:nvSpPr>
        <p:spPr>
          <a:xfrm>
            <a:off x="4888915" y="224707"/>
            <a:ext cx="28916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noProof="0" dirty="0"/>
              <a:t>🧠 Ex</a:t>
            </a:r>
            <a:r>
              <a:rPr lang="fr-FR" sz="2400" b="1" dirty="0"/>
              <a:t>amen BLANC </a:t>
            </a:r>
            <a:endParaRPr lang="fr-FR" sz="2400" b="1" noProof="0" dirty="0"/>
          </a:p>
        </p:txBody>
      </p:sp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77478B55-4035-AC74-E961-3E14D287D3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7549877"/>
              </p:ext>
            </p:extLst>
          </p:nvPr>
        </p:nvGraphicFramePr>
        <p:xfrm>
          <a:off x="207041" y="1214329"/>
          <a:ext cx="5888959" cy="503821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888959">
                  <a:extLst>
                    <a:ext uri="{9D8B030D-6E8A-4147-A177-3AD203B41FA5}">
                      <a16:colId xmlns:a16="http://schemas.microsoft.com/office/drawing/2014/main" val="20018317"/>
                    </a:ext>
                  </a:extLst>
                </a:gridCol>
              </a:tblGrid>
              <a:tr h="4010474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fr-FR" sz="1200" b="1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ÉNONCÉ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fr-FR" sz="1200" b="0" dirty="0">
                          <a:effectLst/>
                        </a:rPr>
                        <a:t>Vous travaillez comme </a:t>
                      </a:r>
                      <a:r>
                        <a:rPr lang="fr-FR" sz="1200" b="1" dirty="0">
                          <a:effectLst/>
                        </a:rPr>
                        <a:t>Data </a:t>
                      </a:r>
                      <a:r>
                        <a:rPr lang="fr-FR" sz="1200" b="1" dirty="0" err="1">
                          <a:effectLst/>
                        </a:rPr>
                        <a:t>Analyst</a:t>
                      </a:r>
                      <a:r>
                        <a:rPr lang="fr-FR" sz="1200" b="1" dirty="0">
                          <a:effectLst/>
                        </a:rPr>
                        <a:t> / Data </a:t>
                      </a:r>
                      <a:r>
                        <a:rPr lang="fr-FR" sz="1200" b="1" dirty="0" err="1">
                          <a:effectLst/>
                        </a:rPr>
                        <a:t>Scientist</a:t>
                      </a:r>
                      <a:r>
                        <a:rPr lang="fr-FR" sz="1200" b="1" dirty="0">
                          <a:effectLst/>
                        </a:rPr>
                        <a:t> RH</a:t>
                      </a:r>
                      <a:r>
                        <a:rPr lang="fr-FR" sz="1200" b="0" dirty="0">
                          <a:effectLst/>
                        </a:rPr>
                        <a:t> pour une plateforme interne de pilotage RH.</a:t>
                      </a:r>
                      <a:br>
                        <a:rPr lang="fr-FR" sz="1200" b="0" dirty="0">
                          <a:effectLst/>
                        </a:rPr>
                      </a:br>
                      <a:r>
                        <a:rPr lang="fr-FR" sz="1200" b="0" dirty="0">
                          <a:effectLst/>
                        </a:rPr>
                        <a:t>Cette plateforme agrège des données provenant de plusieurs sources :</a:t>
                      </a:r>
                    </a:p>
                    <a:p>
                      <a:pPr marL="285750" indent="-2857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1200" b="0" dirty="0">
                          <a:effectLst/>
                        </a:rPr>
                        <a:t>SIRH,</a:t>
                      </a:r>
                    </a:p>
                    <a:p>
                      <a:pPr marL="285750" indent="-2857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1200" b="0" dirty="0">
                          <a:effectLst/>
                        </a:rPr>
                        <a:t>LMS (formation),</a:t>
                      </a:r>
                    </a:p>
                    <a:p>
                      <a:pPr marL="285750" indent="-2857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1200" b="0" dirty="0">
                          <a:effectLst/>
                        </a:rPr>
                        <a:t>Paie,</a:t>
                      </a:r>
                    </a:p>
                    <a:p>
                      <a:pPr marL="285750" indent="-2857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1200" b="0" dirty="0">
                          <a:effectLst/>
                        </a:rPr>
                        <a:t>Gestion des postes,</a:t>
                      </a:r>
                    </a:p>
                    <a:p>
                      <a:pPr marL="285750" indent="-2857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1200" b="0" dirty="0">
                          <a:effectLst/>
                        </a:rPr>
                        <a:t>Enquêtes d’engagement,</a:t>
                      </a:r>
                    </a:p>
                    <a:p>
                      <a:pPr marL="285750" indent="-2857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1200" b="0" dirty="0">
                          <a:effectLst/>
                        </a:rPr>
                        <a:t>Recrutement,</a:t>
                      </a:r>
                    </a:p>
                    <a:p>
                      <a:pPr marL="285750" indent="-2857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1200" b="0" dirty="0">
                          <a:effectLst/>
                        </a:rPr>
                        <a:t>Mobilité interne,</a:t>
                      </a:r>
                    </a:p>
                    <a:p>
                      <a:pPr marL="285750" indent="-2857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1200" b="0" dirty="0">
                          <a:effectLst/>
                        </a:rPr>
                        <a:t>Historique agrégé des départs.</a:t>
                      </a:r>
                      <a:br>
                        <a:rPr lang="fr-FR" sz="1200" b="0" dirty="0">
                          <a:effectLst/>
                        </a:rPr>
                      </a:br>
                      <a:endParaRPr lang="fr-FR" sz="1200" b="0" dirty="0">
                        <a:effectLst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fr-FR" sz="1200" b="0" dirty="0">
                          <a:effectLst/>
                        </a:rPr>
                        <a:t>La DRH a trois besoins majeurs :</a:t>
                      </a:r>
                      <a:br>
                        <a:rPr lang="fr-FR" sz="1200" b="0" dirty="0">
                          <a:effectLst/>
                        </a:rPr>
                      </a:br>
                      <a:endParaRPr lang="fr-FR" sz="1200" b="0" dirty="0">
                        <a:effectLst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fr-FR" sz="1200" b="1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Besoin 1 – Fiabiliser la donnée RH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fr-FR" sz="1200" b="0" dirty="0">
                          <a:effectLst/>
                        </a:rPr>
                        <a:t>Les données RH actuelles sont fragmentées, hétérogènes et parfois incohérentes.</a:t>
                      </a:r>
                      <a:br>
                        <a:rPr lang="fr-FR" sz="1200" b="0" dirty="0">
                          <a:effectLst/>
                        </a:rPr>
                      </a:br>
                      <a:r>
                        <a:rPr lang="fr-FR" sz="1200" b="0" dirty="0">
                          <a:effectLst/>
                        </a:rPr>
                        <a:t>Avant toute analyse ou modélisation, l’entreprise veut construire une </a:t>
                      </a:r>
                      <a:r>
                        <a:rPr lang="fr-FR" sz="1200" b="1" dirty="0">
                          <a:effectLst/>
                        </a:rPr>
                        <a:t>GOLD DATA RH</a:t>
                      </a:r>
                      <a:r>
                        <a:rPr lang="fr-FR" sz="1200" b="0" dirty="0">
                          <a:effectLst/>
                        </a:rPr>
                        <a:t> fiable et documentée.</a:t>
                      </a:r>
                      <a:br>
                        <a:rPr lang="fr-FR" sz="1200" b="0" dirty="0">
                          <a:effectLst/>
                        </a:rPr>
                      </a:br>
                      <a:endParaRPr lang="fr-FR" sz="1200" b="0" dirty="0">
                        <a:effectLst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fr-FR" sz="1200" b="1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Besoin 2 – Comprendre les dynamiques collectives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fr-FR" sz="1200" b="0" dirty="0">
                          <a:effectLst/>
                        </a:rPr>
                        <a:t>L’entreprise veut comprendre :</a:t>
                      </a:r>
                    </a:p>
                    <a:p>
                      <a:pPr marL="285750" indent="-2857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1200" b="0" dirty="0">
                          <a:effectLst/>
                        </a:rPr>
                        <a:t>Quels types d’équipes ont une forte rotation,</a:t>
                      </a:r>
                    </a:p>
                    <a:p>
                      <a:pPr marL="285750" indent="-2857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1200" b="0" dirty="0">
                          <a:effectLst/>
                        </a:rPr>
                        <a:t>Quels sites sont en tension,</a:t>
                      </a:r>
                    </a:p>
                    <a:p>
                      <a:pPr marL="285750" indent="-2857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1200" b="0" dirty="0">
                          <a:effectLst/>
                        </a:rPr>
                        <a:t>Où la couverture des compétences critiques est fragile,</a:t>
                      </a:r>
                    </a:p>
                    <a:p>
                      <a:pPr marL="285750" indent="-2857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1200" b="0" dirty="0">
                          <a:effectLst/>
                        </a:rPr>
                        <a:t>Où les écarts entre effectif planifié et effectif réel sont les plus forts.</a:t>
                      </a:r>
                      <a:endParaRPr lang="fr-FR" sz="1200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5216" marR="85216" marT="42608" marB="42608"/>
                </a:tc>
                <a:extLst>
                  <a:ext uri="{0D108BD9-81ED-4DB2-BD59-A6C34878D82A}">
                    <a16:rowId xmlns:a16="http://schemas.microsoft.com/office/drawing/2014/main" val="1896201949"/>
                  </a:ext>
                </a:extLst>
              </a:tr>
            </a:tbl>
          </a:graphicData>
        </a:graphic>
      </p:graphicFrame>
      <p:sp>
        <p:nvSpPr>
          <p:cNvPr id="11" name="ZoneTexte 10">
            <a:extLst>
              <a:ext uri="{FF2B5EF4-FFF2-40B4-BE49-F238E27FC236}">
                <a16:creationId xmlns:a16="http://schemas.microsoft.com/office/drawing/2014/main" id="{464FDB9E-D921-9235-204A-60D6F8C3554B}"/>
              </a:ext>
            </a:extLst>
          </p:cNvPr>
          <p:cNvSpPr txBox="1"/>
          <p:nvPr/>
        </p:nvSpPr>
        <p:spPr>
          <a:xfrm>
            <a:off x="7567127" y="148356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  <p:graphicFrame>
        <p:nvGraphicFramePr>
          <p:cNvPr id="13" name="Tableau 12">
            <a:extLst>
              <a:ext uri="{FF2B5EF4-FFF2-40B4-BE49-F238E27FC236}">
                <a16:creationId xmlns:a16="http://schemas.microsoft.com/office/drawing/2014/main" id="{5F79B36B-2CD4-FEE1-EE93-BF5867208E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8317136"/>
              </p:ext>
            </p:extLst>
          </p:nvPr>
        </p:nvGraphicFramePr>
        <p:xfrm>
          <a:off x="6279502" y="1362269"/>
          <a:ext cx="5705457" cy="25679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705457">
                  <a:extLst>
                    <a:ext uri="{9D8B030D-6E8A-4147-A177-3AD203B41FA5}">
                      <a16:colId xmlns:a16="http://schemas.microsoft.com/office/drawing/2014/main" val="9951363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fr-FR" sz="1200" b="1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Besoin 3 – Anticiper au niveau agrégé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fr-FR" sz="1200" b="0" dirty="0">
                        <a:effectLst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fr-FR" sz="1200" b="0" dirty="0">
                          <a:effectLst/>
                        </a:rPr>
                        <a:t>L’entreprise souhaite prévoir le volume de départs volontaires au niveau équipe/site/métier pour le prochain trimestre, afin de :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fr-FR" sz="1200" b="0" dirty="0">
                        <a:effectLst/>
                      </a:endParaRP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1200" b="0" dirty="0">
                          <a:effectLst/>
                        </a:rPr>
                        <a:t>Anticiper les besoins de recrutement,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1200" b="0" dirty="0">
                          <a:effectLst/>
                        </a:rPr>
                        <a:t>Prioriser les efforts de formation,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1200" b="0" dirty="0">
                          <a:effectLst/>
                        </a:rPr>
                        <a:t>Planifier les mobilités,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1200" b="0" dirty="0">
                          <a:effectLst/>
                        </a:rPr>
                        <a:t>Sécuriser les compétences critiques.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None/>
                      </a:pPr>
                      <a:endParaRPr lang="fr-FR" sz="1200" b="0" dirty="0">
                        <a:effectLst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fr-FR" sz="1200" b="1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Important :</a:t>
                      </a:r>
                      <a:br>
                        <a:rPr lang="fr-FR" sz="1200" b="0" dirty="0">
                          <a:effectLst/>
                        </a:rPr>
                      </a:br>
                      <a:r>
                        <a:rPr lang="fr-FR" sz="1200" b="0" dirty="0">
                          <a:effectLst/>
                        </a:rPr>
                        <a:t>Ce projet ne doit pas être utilisé pour classer des personnes individuellement, noter des collaborateurs ou prendre une décision automatique sur une personne</a:t>
                      </a:r>
                      <a:endParaRPr lang="fr-FR" sz="1200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8248166"/>
                  </a:ext>
                </a:extLst>
              </a:tr>
            </a:tbl>
          </a:graphicData>
        </a:graphic>
      </p:graphicFrame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779CB384-164D-D1E2-98FE-47E20DD154BA}"/>
              </a:ext>
            </a:extLst>
          </p:cNvPr>
          <p:cNvCxnSpPr>
            <a:cxnSpLocks/>
          </p:cNvCxnSpPr>
          <p:nvPr/>
        </p:nvCxnSpPr>
        <p:spPr>
          <a:xfrm flipH="1">
            <a:off x="6096000" y="1214329"/>
            <a:ext cx="4325" cy="503821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4284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E7166-F857-01CD-08D2-BA08DDBB9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2C57124E-3E7C-2953-9229-F500197378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635" y="123382"/>
            <a:ext cx="929721" cy="693480"/>
          </a:xfrm>
          <a:prstGeom prst="rect">
            <a:avLst/>
          </a:prstGeom>
        </p:spPr>
      </p:pic>
      <p:pic>
        <p:nvPicPr>
          <p:cNvPr id="2050" name="Picture 2" descr="Logo de DataClass AI">
            <a:extLst>
              <a:ext uri="{FF2B5EF4-FFF2-40B4-BE49-F238E27FC236}">
                <a16:creationId xmlns:a16="http://schemas.microsoft.com/office/drawing/2014/main" id="{518C1B9B-7394-0FB5-DEC6-6E312C5B87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644" y="45183"/>
            <a:ext cx="952500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3027A76A-FFDB-CEE5-FC42-E32DDDF619FB}"/>
              </a:ext>
            </a:extLst>
          </p:cNvPr>
          <p:cNvSpPr txBox="1"/>
          <p:nvPr/>
        </p:nvSpPr>
        <p:spPr>
          <a:xfrm>
            <a:off x="5556039" y="6475452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noProof="0" dirty="0"/>
              <a:t>3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417DD69-0C44-D6F0-A585-74989F462654}"/>
              </a:ext>
            </a:extLst>
          </p:cNvPr>
          <p:cNvSpPr txBox="1"/>
          <p:nvPr/>
        </p:nvSpPr>
        <p:spPr>
          <a:xfrm>
            <a:off x="0" y="6581001"/>
            <a:ext cx="9444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noProof="0" dirty="0"/>
              <a:t>05/06/2026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516FB851-AA68-6471-03D7-5E0C14AF5B20}"/>
              </a:ext>
            </a:extLst>
          </p:cNvPr>
          <p:cNvSpPr txBox="1"/>
          <p:nvPr/>
        </p:nvSpPr>
        <p:spPr>
          <a:xfrm>
            <a:off x="4888915" y="224707"/>
            <a:ext cx="28916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noProof="0" dirty="0"/>
              <a:t>🧠 Ex</a:t>
            </a:r>
            <a:r>
              <a:rPr lang="fr-FR" sz="2400" b="1" dirty="0"/>
              <a:t>amen BLANC </a:t>
            </a:r>
            <a:endParaRPr lang="fr-FR" sz="2400" b="1" noProof="0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BA55DD6-B5EA-6DFA-13B8-50916DDB9787}"/>
              </a:ext>
            </a:extLst>
          </p:cNvPr>
          <p:cNvSpPr txBox="1"/>
          <p:nvPr/>
        </p:nvSpPr>
        <p:spPr>
          <a:xfrm>
            <a:off x="7567127" y="148356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DC319DDF-75ED-BA74-CAD5-B184075BCC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199685"/>
              </p:ext>
            </p:extLst>
          </p:nvPr>
        </p:nvGraphicFramePr>
        <p:xfrm>
          <a:off x="298239" y="1242060"/>
          <a:ext cx="5524220" cy="25679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524220">
                  <a:extLst>
                    <a:ext uri="{9D8B030D-6E8A-4147-A177-3AD203B41FA5}">
                      <a16:colId xmlns:a16="http://schemas.microsoft.com/office/drawing/2014/main" val="21962717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fr-FR" sz="1200" b="1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Objectif général du cas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fr-FR" sz="1200" b="1" dirty="0">
                        <a:effectLst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fr-FR" sz="1200" b="0" dirty="0">
                          <a:effectLst/>
                        </a:rPr>
                        <a:t>À partir des 4 fichiers, vous devez construire une démarche complète intégrant :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fr-FR" sz="1200" b="0" dirty="0">
                        <a:effectLst/>
                      </a:endParaRP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1200" b="0" dirty="0">
                          <a:effectLst/>
                        </a:rPr>
                        <a:t>Analyse exploratoire des données (AED)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1200" b="0" dirty="0">
                          <a:effectLst/>
                        </a:rPr>
                        <a:t>Nettoyage et fiabilisation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1200" b="0" dirty="0">
                          <a:effectLst/>
                        </a:rPr>
                        <a:t>Construction d’une GOLD DATA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1200" b="0" dirty="0">
                          <a:effectLst/>
                        </a:rPr>
                        <a:t>Création d’un dictionnaire de données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1200" b="0" dirty="0">
                          <a:effectLst/>
                        </a:rPr>
                        <a:t>Analyse des dynamiques collectives RH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1200" b="0" dirty="0">
                          <a:effectLst/>
                        </a:rPr>
                        <a:t>Prédiction agrégée des départs volontaires (Classification, Régression , ST)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1200" b="0" dirty="0">
                          <a:effectLst/>
                        </a:rPr>
                        <a:t>Définition de KPI de pilotage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1200" b="0" dirty="0">
                          <a:effectLst/>
                        </a:rPr>
                        <a:t>Proposition d’un tableau de bord (Looker STUDIO)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1200" b="0" dirty="0">
                          <a:effectLst/>
                        </a:rPr>
                        <a:t>Encadrement du cas par des principes de gouvernance et d’usage responsable</a:t>
                      </a:r>
                      <a:endParaRPr lang="fr-FR" sz="1200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938728"/>
                  </a:ext>
                </a:extLst>
              </a:tr>
            </a:tbl>
          </a:graphicData>
        </a:graphic>
      </p:graphicFrame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E3EAEF4B-6089-F198-7D72-3AE8139D91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4977661"/>
              </p:ext>
            </p:extLst>
          </p:nvPr>
        </p:nvGraphicFramePr>
        <p:xfrm>
          <a:off x="298240" y="3951148"/>
          <a:ext cx="5456414" cy="19964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456414">
                  <a:extLst>
                    <a:ext uri="{9D8B030D-6E8A-4147-A177-3AD203B41FA5}">
                      <a16:colId xmlns:a16="http://schemas.microsoft.com/office/drawing/2014/main" val="19109764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 defTabSz="914400" rtl="0" eaLnBrk="1" fontAlgn="t" latinLnBrk="0" hangingPunct="1">
                        <a:lnSpc>
                          <a:spcPts val="15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fr-FR" sz="1200" b="1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PARTIE A : Compréhension du problème</a:t>
                      </a:r>
                    </a:p>
                    <a:p>
                      <a:pPr marL="0" indent="0" algn="l" defTabSz="914400" rtl="0" eaLnBrk="1" fontAlgn="t" latinLnBrk="0" hangingPunct="1">
                        <a:lnSpc>
                          <a:spcPts val="15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</a:rPr>
                        <a:t>Vous devez commencer par formuler clairement le besoin métier.</a:t>
                      </a:r>
                    </a:p>
                    <a:p>
                      <a:pPr marL="0" indent="0" algn="l" defTabSz="914400" rtl="0" eaLnBrk="1" fontAlgn="t" latinLnBrk="0" hangingPunct="1">
                        <a:lnSpc>
                          <a:spcPts val="1500"/>
                        </a:lnSpc>
                        <a:buFont typeface="Wingdings" panose="05000000000000000000" pitchFamily="2" charset="2"/>
                        <a:buNone/>
                      </a:pPr>
                      <a:endParaRPr lang="fr-FR" sz="1200" b="0" kern="12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171450" indent="-171450" algn="l" defTabSz="914400" rtl="0" eaLnBrk="1" fontAlgn="t" latinLnBrk="0" hangingPunct="1">
                        <a:lnSpc>
                          <a:spcPts val="15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</a:rPr>
                        <a:t>Quel est le problème métier principal,</a:t>
                      </a:r>
                    </a:p>
                    <a:p>
                      <a:pPr marL="171450" indent="-171450" algn="l" defTabSz="914400" rtl="0" eaLnBrk="1" fontAlgn="t" latinLnBrk="0" hangingPunct="1">
                        <a:lnSpc>
                          <a:spcPts val="15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</a:rPr>
                        <a:t>Pourquoi ce cas doit être traité à un niveau agrégé,</a:t>
                      </a:r>
                    </a:p>
                    <a:p>
                      <a:pPr marL="171450" indent="-171450" algn="l" defTabSz="914400" rtl="0" eaLnBrk="1" fontAlgn="t" latinLnBrk="0" hangingPunct="1">
                        <a:lnSpc>
                          <a:spcPts val="15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</a:rPr>
                        <a:t>Quelles décisions ce travail peut aider à éclairer,</a:t>
                      </a:r>
                    </a:p>
                    <a:p>
                      <a:pPr marL="171450" indent="-171450" algn="l" defTabSz="914400" rtl="0" eaLnBrk="1" fontAlgn="t" latinLnBrk="0" hangingPunct="1">
                        <a:lnSpc>
                          <a:spcPts val="15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</a:rPr>
                        <a:t>Quelles décisions ce travail ne doit pas automatiser.</a:t>
                      </a:r>
                    </a:p>
                    <a:p>
                      <a:pPr marL="171450" indent="-171450" algn="l" defTabSz="914400" rtl="0" eaLnBrk="1" fontAlgn="t" latinLnBrk="0" hangingPunct="1">
                        <a:lnSpc>
                          <a:spcPts val="1500"/>
                        </a:lnSpc>
                        <a:buFont typeface="Wingdings" panose="05000000000000000000" pitchFamily="2" charset="2"/>
                        <a:buChar char="q"/>
                      </a:pPr>
                      <a:endParaRPr lang="fr-FR" sz="1200" b="0" kern="12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indent="0" algn="l" defTabSz="914400" rtl="0" eaLnBrk="1" fontAlgn="t" latinLnBrk="0" hangingPunct="1">
                        <a:lnSpc>
                          <a:spcPts val="15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fr-FR" sz="1200" b="1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Livrable attendu</a:t>
                      </a:r>
                    </a:p>
                    <a:p>
                      <a:pPr marL="0" indent="0" algn="l" defTabSz="914400" rtl="0" eaLnBrk="1" fontAlgn="t" latinLnBrk="0" hangingPunct="1">
                        <a:lnSpc>
                          <a:spcPts val="15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fr-FR" sz="1200" b="0" kern="1200" dirty="0">
                          <a:solidFill>
                            <a:schemeClr val="tx1"/>
                          </a:solidFill>
                          <a:effectLst/>
                        </a:rPr>
                        <a:t>Un court texte de cadrage (5 à 10 lignes maximum).</a:t>
                      </a:r>
                      <a:endParaRPr lang="fr-FR" sz="12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7739411"/>
                  </a:ext>
                </a:extLst>
              </a:tr>
            </a:tbl>
          </a:graphicData>
        </a:graphic>
      </p:graphicFrame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DA9CC82A-A7D5-9190-EB60-D3F35A56D9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1001104"/>
              </p:ext>
            </p:extLst>
          </p:nvPr>
        </p:nvGraphicFramePr>
        <p:xfrm>
          <a:off x="6184144" y="1242060"/>
          <a:ext cx="5524220" cy="31394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524220">
                  <a:extLst>
                    <a:ext uri="{9D8B030D-6E8A-4147-A177-3AD203B41FA5}">
                      <a16:colId xmlns:a16="http://schemas.microsoft.com/office/drawing/2014/main" val="4994637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fr-FR" sz="1200" b="1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PARTIE B : Analyse exploratoire des données (AED)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fr-FR" sz="1200" b="1" dirty="0">
                        <a:effectLst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fr-FR" sz="1200" b="0" dirty="0">
                          <a:effectLst/>
                        </a:rPr>
                        <a:t>Vous devez réaliser une </a:t>
                      </a:r>
                      <a:r>
                        <a:rPr lang="fr-FR" sz="1200" b="1" dirty="0">
                          <a:effectLst/>
                        </a:rPr>
                        <a:t>analyse exploratoire complète</a:t>
                      </a:r>
                      <a:r>
                        <a:rPr lang="fr-FR" sz="1200" b="0" dirty="0">
                          <a:effectLst/>
                        </a:rPr>
                        <a:t> sur les fichiers bruts.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fr-FR" sz="1200" b="0" dirty="0">
                        <a:effectLst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fr-FR" sz="1200" b="1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Attendus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fr-FR" sz="1200" b="0" dirty="0">
                          <a:effectLst/>
                        </a:rPr>
                        <a:t>Pour chacun des fichiers, vous devez :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fr-FR" sz="1200" b="0" dirty="0">
                        <a:effectLst/>
                      </a:endParaRP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1200" b="0" dirty="0">
                          <a:effectLst/>
                        </a:rPr>
                        <a:t>Charger les données,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1200" b="0" dirty="0">
                          <a:effectLst/>
                        </a:rPr>
                        <a:t>Afficher les dimensions,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1200" b="0" dirty="0">
                          <a:effectLst/>
                        </a:rPr>
                        <a:t>Analyser les types de variables,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1200" b="0" dirty="0">
                          <a:effectLst/>
                        </a:rPr>
                        <a:t>Identifier les valeurs manquantes,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1200" b="0" dirty="0">
                          <a:effectLst/>
                        </a:rPr>
                        <a:t>Détecter les doublons,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1200" b="0" dirty="0">
                          <a:effectLst/>
                        </a:rPr>
                        <a:t>Repérer les valeurs incohérentes ou extrêmes,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1200" b="0" dirty="0">
                          <a:effectLst/>
                        </a:rPr>
                        <a:t>Vérifier la cohérence métier entre colonnes,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1200" b="0" dirty="0">
                          <a:effectLst/>
                        </a:rPr>
                        <a:t>Décrire les principales distributions,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1200" b="0" dirty="0">
                          <a:effectLst/>
                        </a:rPr>
                        <a:t>Explorer les relations entre certaines variables.</a:t>
                      </a:r>
                      <a:endParaRPr lang="fr-FR" sz="1200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3628909"/>
                  </a:ext>
                </a:extLst>
              </a:tr>
            </a:tbl>
          </a:graphicData>
        </a:graphic>
      </p:graphicFrame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115C6870-8729-79A6-0FF4-5071D2478E45}"/>
              </a:ext>
            </a:extLst>
          </p:cNvPr>
          <p:cNvCxnSpPr>
            <a:cxnSpLocks/>
          </p:cNvCxnSpPr>
          <p:nvPr/>
        </p:nvCxnSpPr>
        <p:spPr>
          <a:xfrm>
            <a:off x="5930941" y="997683"/>
            <a:ext cx="76916" cy="547776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6608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73866-02B2-0B58-FE2C-FC88BCDFA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58AA0DE9-A927-4E16-BCAF-EC2DD66E00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635" y="123382"/>
            <a:ext cx="929721" cy="693480"/>
          </a:xfrm>
          <a:prstGeom prst="rect">
            <a:avLst/>
          </a:prstGeom>
        </p:spPr>
      </p:pic>
      <p:pic>
        <p:nvPicPr>
          <p:cNvPr id="2050" name="Picture 2" descr="Logo de DataClass AI">
            <a:extLst>
              <a:ext uri="{FF2B5EF4-FFF2-40B4-BE49-F238E27FC236}">
                <a16:creationId xmlns:a16="http://schemas.microsoft.com/office/drawing/2014/main" id="{32F1E436-2B1D-14E0-AE25-4A3C5368D5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644" y="45183"/>
            <a:ext cx="952500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65E3E9DB-2AE2-8D06-A996-7DE66AF2CC73}"/>
              </a:ext>
            </a:extLst>
          </p:cNvPr>
          <p:cNvSpPr txBox="1"/>
          <p:nvPr/>
        </p:nvSpPr>
        <p:spPr>
          <a:xfrm>
            <a:off x="5556039" y="6475452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noProof="0" dirty="0"/>
              <a:t>4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9ED44E92-A1E8-5C83-F1C2-BCAB68D48D27}"/>
              </a:ext>
            </a:extLst>
          </p:cNvPr>
          <p:cNvSpPr txBox="1"/>
          <p:nvPr/>
        </p:nvSpPr>
        <p:spPr>
          <a:xfrm>
            <a:off x="0" y="6581001"/>
            <a:ext cx="9444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noProof="0" dirty="0"/>
              <a:t>05/06/2026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432E141-601A-E8B3-C628-64FDC1CF520D}"/>
              </a:ext>
            </a:extLst>
          </p:cNvPr>
          <p:cNvSpPr txBox="1"/>
          <p:nvPr/>
        </p:nvSpPr>
        <p:spPr>
          <a:xfrm>
            <a:off x="4888915" y="224707"/>
            <a:ext cx="28916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noProof="0" dirty="0"/>
              <a:t>🧠 Ex</a:t>
            </a:r>
            <a:r>
              <a:rPr lang="fr-FR" sz="2400" b="1" dirty="0"/>
              <a:t>amen BLANC </a:t>
            </a:r>
            <a:endParaRPr lang="fr-FR" sz="2400" b="1" noProof="0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F7C1755-525A-E912-41CF-B9E28285B226}"/>
              </a:ext>
            </a:extLst>
          </p:cNvPr>
          <p:cNvSpPr txBox="1"/>
          <p:nvPr/>
        </p:nvSpPr>
        <p:spPr>
          <a:xfrm>
            <a:off x="7567127" y="148356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45366552-5460-D845-5F3D-44D46339FE73}"/>
              </a:ext>
            </a:extLst>
          </p:cNvPr>
          <p:cNvCxnSpPr>
            <a:cxnSpLocks/>
          </p:cNvCxnSpPr>
          <p:nvPr/>
        </p:nvCxnSpPr>
        <p:spPr>
          <a:xfrm>
            <a:off x="5930941" y="997683"/>
            <a:ext cx="76916" cy="547776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66750146-8666-03B9-3CB7-A28C3C9310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3990160"/>
              </p:ext>
            </p:extLst>
          </p:nvPr>
        </p:nvGraphicFramePr>
        <p:xfrm>
          <a:off x="150839" y="1012972"/>
          <a:ext cx="5405200" cy="25679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405200">
                  <a:extLst>
                    <a:ext uri="{9D8B030D-6E8A-4147-A177-3AD203B41FA5}">
                      <a16:colId xmlns:a16="http://schemas.microsoft.com/office/drawing/2014/main" val="3266626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fr-FR" sz="1200" b="1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PARTIE D : Dictionnaire de données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fr-FR" sz="1200" b="0" dirty="0">
                          <a:effectLst/>
                        </a:rPr>
                        <a:t>Vous devez construire un dictionnaire de données pour au moins 12 variables.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fr-FR" sz="1200" b="0" dirty="0">
                        <a:effectLst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fr-FR" sz="1200" b="0" dirty="0">
                          <a:effectLst/>
                        </a:rPr>
                        <a:t>Pour chaque variable, vous devez documenter :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fr-FR" sz="1200" b="0" dirty="0">
                        <a:effectLst/>
                      </a:endParaRP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1200" b="0" dirty="0">
                          <a:effectLst/>
                        </a:rPr>
                        <a:t>Nom technique,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1200" b="0" dirty="0">
                          <a:effectLst/>
                        </a:rPr>
                        <a:t>Définition métier,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1200" b="0" dirty="0">
                          <a:effectLst/>
                        </a:rPr>
                        <a:t>Type de donnée,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1200" b="0" dirty="0">
                          <a:effectLst/>
                        </a:rPr>
                        <a:t>Unité éventuelle,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1200" b="0" dirty="0">
                          <a:effectLst/>
                        </a:rPr>
                        <a:t>Source,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1200" b="0" dirty="0">
                          <a:effectLst/>
                        </a:rPr>
                        <a:t>Règle(s) de qualité, 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1200" b="0" dirty="0">
                          <a:effectLst/>
                        </a:rPr>
                        <a:t>Propriétaire de donnée (data Owner),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1200" b="0" dirty="0">
                          <a:effectLst/>
                        </a:rPr>
                        <a:t>Commentaire de vigilance éventuel.</a:t>
                      </a:r>
                      <a:endParaRPr lang="fr-FR" sz="1200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8786338"/>
                  </a:ext>
                </a:extLst>
              </a:tr>
            </a:tbl>
          </a:graphicData>
        </a:graphic>
      </p:graphicFrame>
      <p:graphicFrame>
        <p:nvGraphicFramePr>
          <p:cNvPr id="12" name="Tableau 11">
            <a:extLst>
              <a:ext uri="{FF2B5EF4-FFF2-40B4-BE49-F238E27FC236}">
                <a16:creationId xmlns:a16="http://schemas.microsoft.com/office/drawing/2014/main" id="{6D38A5C1-2CF1-58BF-D4F5-ED20C31E45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2522072"/>
              </p:ext>
            </p:extLst>
          </p:nvPr>
        </p:nvGraphicFramePr>
        <p:xfrm>
          <a:off x="137796" y="4034079"/>
          <a:ext cx="5870061" cy="18059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870061">
                  <a:extLst>
                    <a:ext uri="{9D8B030D-6E8A-4147-A177-3AD203B41FA5}">
                      <a16:colId xmlns:a16="http://schemas.microsoft.com/office/drawing/2014/main" val="33355732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fr-FR" sz="1200" b="1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PARTIE E : Analyse des dynamiques collectives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fr-FR" sz="1200" b="0" dirty="0">
                          <a:effectLst/>
                        </a:rPr>
                        <a:t>Une fois la GOLD DATA construite, vous devez analyser les dynamiques collectives RH.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fr-FR" sz="1200" b="0" dirty="0">
                        <a:effectLst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fr-FR" sz="1200" b="1" dirty="0">
                          <a:effectLst/>
                        </a:rPr>
                        <a:t>Questions à traiter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1200" b="0" dirty="0">
                          <a:effectLst/>
                        </a:rPr>
                        <a:t>Quelles équipes semblent les plus instables ?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1200" b="0" dirty="0">
                          <a:effectLst/>
                        </a:rPr>
                        <a:t>Quels sites semblent les plus en tension ?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1200" b="0" dirty="0">
                          <a:effectLst/>
                        </a:rPr>
                        <a:t>Où les écarts entre effectif planifié et effectif réel sont-ils les plus forts ?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1200" b="0" dirty="0">
                          <a:effectLst/>
                        </a:rPr>
                        <a:t>Où la couverture des compétences critiques est-elle fragile ?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1200" b="0" dirty="0">
                          <a:effectLst/>
                        </a:rPr>
                        <a:t>Peut-on identifier des profils d’équipes distincts ?</a:t>
                      </a:r>
                      <a:endParaRPr lang="fr-FR" sz="1200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371924"/>
                  </a:ext>
                </a:extLst>
              </a:tr>
            </a:tbl>
          </a:graphicData>
        </a:graphic>
      </p:graphicFrame>
      <p:graphicFrame>
        <p:nvGraphicFramePr>
          <p:cNvPr id="13" name="Tableau 12">
            <a:extLst>
              <a:ext uri="{FF2B5EF4-FFF2-40B4-BE49-F238E27FC236}">
                <a16:creationId xmlns:a16="http://schemas.microsoft.com/office/drawing/2014/main" id="{8F478787-DC03-2A06-186C-471AECC2CF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9791188"/>
              </p:ext>
            </p:extLst>
          </p:nvPr>
        </p:nvGraphicFramePr>
        <p:xfrm>
          <a:off x="6096000" y="816862"/>
          <a:ext cx="5601242" cy="31394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601242">
                  <a:extLst>
                    <a:ext uri="{9D8B030D-6E8A-4147-A177-3AD203B41FA5}">
                      <a16:colId xmlns:a16="http://schemas.microsoft.com/office/drawing/2014/main" val="12710022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fr-FR" sz="1200" b="1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PARTIE F : Modélisation prédictive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fr-FR" sz="1200" b="0" dirty="0">
                          <a:effectLst/>
                        </a:rPr>
                        <a:t>Vous devez construire un modèle permettant de prévoir le volume agrégé de départs volontaires pour le trimestre suivant.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fr-FR" sz="1200" b="0" dirty="0">
                        <a:effectLst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fr-FR" sz="1200" b="1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Problème retenu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fr-FR" sz="1200" b="0" dirty="0">
                          <a:effectLst/>
                        </a:rPr>
                        <a:t>Il s’agit d’un problème de prédiction au niveau agrégé. Vous devez justifier le type de modélisation choisi.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fr-FR" sz="1200" b="0" dirty="0">
                        <a:effectLst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fr-FR" sz="1200" b="0" dirty="0">
                          <a:effectLst/>
                        </a:rPr>
                        <a:t>Ce qui est attendu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1200" b="0" dirty="0">
                          <a:effectLst/>
                        </a:rPr>
                        <a:t>Définir la variable cible,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1200" b="0" dirty="0">
                          <a:effectLst/>
                        </a:rPr>
                        <a:t>Préparer le </a:t>
                      </a:r>
                      <a:r>
                        <a:rPr lang="fr-FR" sz="1200" b="0" dirty="0" err="1">
                          <a:effectLst/>
                        </a:rPr>
                        <a:t>Dataset</a:t>
                      </a:r>
                      <a:r>
                        <a:rPr lang="fr-FR" sz="1200" b="0" dirty="0">
                          <a:effectLst/>
                        </a:rPr>
                        <a:t> de modélisation,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1200" b="0" dirty="0">
                          <a:effectLst/>
                        </a:rPr>
                        <a:t>Définir une Baseline,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1200" b="0" dirty="0">
                          <a:effectLst/>
                        </a:rPr>
                        <a:t>Entraîner au moins 2 modèles différents 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1200" b="0" dirty="0">
                          <a:effectLst/>
                        </a:rPr>
                        <a:t>Comparer les performances,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1200" b="0" dirty="0">
                          <a:effectLst/>
                        </a:rPr>
                        <a:t>Choisir des métriques adaptées et expliquer leur intérêt métier.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1200" b="0" dirty="0">
                          <a:effectLst/>
                        </a:rPr>
                        <a:t>Conclure sur le meilleur compromis métier / technique.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9157787"/>
                  </a:ext>
                </a:extLst>
              </a:tr>
            </a:tbl>
          </a:graphicData>
        </a:graphic>
      </p:graphicFrame>
      <p:graphicFrame>
        <p:nvGraphicFramePr>
          <p:cNvPr id="15" name="Tableau 14">
            <a:extLst>
              <a:ext uri="{FF2B5EF4-FFF2-40B4-BE49-F238E27FC236}">
                <a16:creationId xmlns:a16="http://schemas.microsoft.com/office/drawing/2014/main" id="{99C29E6B-B1C4-B149-F807-04A8424824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3129640"/>
              </p:ext>
            </p:extLst>
          </p:nvPr>
        </p:nvGraphicFramePr>
        <p:xfrm>
          <a:off x="6116339" y="4000661"/>
          <a:ext cx="6075661" cy="263263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075661">
                  <a:extLst>
                    <a:ext uri="{9D8B030D-6E8A-4147-A177-3AD203B41FA5}">
                      <a16:colId xmlns:a16="http://schemas.microsoft.com/office/drawing/2014/main" val="527651085"/>
                    </a:ext>
                  </a:extLst>
                </a:gridCol>
              </a:tblGrid>
              <a:tr h="2147244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fr-FR" sz="1200" b="1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PARTIE G : Tableau de bord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fr-FR" sz="1200" b="0" dirty="0">
                          <a:effectLst/>
                        </a:rPr>
                        <a:t>Vous devez proposer la structure d’un </a:t>
                      </a:r>
                      <a:r>
                        <a:rPr lang="fr-FR" sz="1200" b="0" dirty="0" err="1">
                          <a:effectLst/>
                        </a:rPr>
                        <a:t>dashboard</a:t>
                      </a:r>
                      <a:r>
                        <a:rPr lang="fr-FR" sz="1200" b="0" dirty="0">
                          <a:effectLst/>
                        </a:rPr>
                        <a:t> RH permettant de piloter la situation.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fr-FR" sz="1200" b="0" dirty="0">
                        <a:effectLst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fr-FR" sz="1200" b="0" dirty="0">
                          <a:effectLst/>
                        </a:rPr>
                        <a:t>Le </a:t>
                      </a:r>
                      <a:r>
                        <a:rPr lang="fr-FR" sz="1200" b="0" dirty="0" err="1">
                          <a:effectLst/>
                        </a:rPr>
                        <a:t>dashboard</a:t>
                      </a:r>
                      <a:r>
                        <a:rPr lang="fr-FR" sz="1200" b="0" dirty="0">
                          <a:effectLst/>
                        </a:rPr>
                        <a:t> doit contenir au minimum 4 vues / onglets :</a:t>
                      </a:r>
                      <a:br>
                        <a:rPr lang="fr-FR" sz="1200" b="0" dirty="0">
                          <a:effectLst/>
                        </a:rPr>
                      </a:br>
                      <a:endParaRPr lang="fr-FR" sz="1200" b="0" dirty="0">
                        <a:effectLst/>
                      </a:endParaRP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1200" b="0" dirty="0">
                          <a:effectLst/>
                        </a:rPr>
                        <a:t>Vue </a:t>
                      </a:r>
                      <a:r>
                        <a:rPr lang="fr-FR" sz="1200" b="0" dirty="0" err="1">
                          <a:effectLst/>
                        </a:rPr>
                        <a:t>Executive</a:t>
                      </a:r>
                      <a:r>
                        <a:rPr lang="fr-FR" sz="1200" b="0" dirty="0">
                          <a:effectLst/>
                        </a:rPr>
                        <a:t> (effectif réel vs planifié, attrition, prévision des départs, tension par site.)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1200" b="0" dirty="0">
                          <a:effectLst/>
                        </a:rPr>
                        <a:t>Vue Data </a:t>
                      </a:r>
                      <a:r>
                        <a:rPr lang="fr-FR" sz="1200" b="0" dirty="0" err="1">
                          <a:effectLst/>
                        </a:rPr>
                        <a:t>Quality</a:t>
                      </a:r>
                      <a:r>
                        <a:rPr lang="fr-FR" sz="1200" b="0" dirty="0">
                          <a:effectLst/>
                        </a:rPr>
                        <a:t> (valeurs manquantes, doublons, incohérences, score qualité de la GOLD DATA.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1200" b="0" dirty="0">
                          <a:effectLst/>
                        </a:rPr>
                        <a:t>Vue RH Analytics (rotation, écarts d’effectifs, couverture des compétences, tensions de recrutement).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1200" b="0" dirty="0">
                          <a:effectLst/>
                        </a:rPr>
                        <a:t>Vue </a:t>
                      </a:r>
                      <a:r>
                        <a:rPr lang="fr-FR" sz="1200" b="0" dirty="0" err="1">
                          <a:effectLst/>
                        </a:rPr>
                        <a:t>Forecast</a:t>
                      </a:r>
                      <a:r>
                        <a:rPr lang="fr-FR" sz="1200" b="0" dirty="0">
                          <a:effectLst/>
                        </a:rPr>
                        <a:t> (prévision du volume de départs, réel vs prédit, facteurs explicatifs, limites du modèle.)</a:t>
                      </a:r>
                      <a:endParaRPr lang="fr-FR" sz="1200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875" marR="81875" marT="40938" marB="40938"/>
                </a:tc>
                <a:extLst>
                  <a:ext uri="{0D108BD9-81ED-4DB2-BD59-A6C34878D82A}">
                    <a16:rowId xmlns:a16="http://schemas.microsoft.com/office/drawing/2014/main" val="3809628534"/>
                  </a:ext>
                </a:extLst>
              </a:tr>
              <a:tr h="241416">
                <a:tc>
                  <a:txBody>
                    <a:bodyPr/>
                    <a:lstStyle/>
                    <a:p>
                      <a:endParaRPr lang="fr-FR" sz="1200" b="0" dirty="0"/>
                    </a:p>
                  </a:txBody>
                  <a:tcPr marL="81875" marR="81875" marT="40938" marB="40938"/>
                </a:tc>
                <a:extLst>
                  <a:ext uri="{0D108BD9-81ED-4DB2-BD59-A6C34878D82A}">
                    <a16:rowId xmlns:a16="http://schemas.microsoft.com/office/drawing/2014/main" val="31782219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939171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731A7AC-D2ED-4DDC-8A86-9483315C6997}">
  <we:reference id="wa200008583" version="1.0.0.1" store="en-US" storeType="OMEX"/>
  <we:alternateReferences>
    <we:reference id="WA200008583" version="1.0.0.1" store="" storeType="OMEX"/>
  </we:alternateReferences>
  <we:properties/>
  <we:bindings/>
  <we:snapshot xmlns:r="http://schemas.openxmlformats.org/officeDocument/2006/relationships"/>
</we:webextension>
</file>

<file path=docMetadata/LabelInfo.xml><?xml version="1.0" encoding="utf-8"?>
<clbl:labelList xmlns:clbl="http://schemas.microsoft.com/office/2020/mipLabelMetadata">
  <clbl:label id="{fd1c0902-ed92-4fed-896d-2e7725de02d4}" enabled="1" method="Standard" siteId="{d6b0bbee-7cd9-4d60-bce6-4a67b543e2a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9861</TotalTime>
  <Words>823</Words>
  <Application>Microsoft Office PowerPoint</Application>
  <PresentationFormat>Grand écran</PresentationFormat>
  <Paragraphs>130</Paragraphs>
  <Slides>4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Segoe UI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CORTY Omar</dc:creator>
  <cp:lastModifiedBy>CORTY Omar</cp:lastModifiedBy>
  <cp:revision>4</cp:revision>
  <dcterms:created xsi:type="dcterms:W3CDTF">2025-10-09T14:00:55Z</dcterms:created>
  <dcterms:modified xsi:type="dcterms:W3CDTF">2026-06-05T07:57:51Z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Thème Office:8</vt:lpwstr>
  </property>
  <property fmtid="{D5CDD505-2E9C-101B-9397-08002B2CF9AE}" pid="3" name="ClassificationContentMarkingFooterText">
    <vt:lpwstr>Confidential C</vt:lpwstr>
  </property>
</Properties>
</file>